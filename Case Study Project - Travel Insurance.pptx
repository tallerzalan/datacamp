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1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7"/>
    <p:restoredTop sz="78652"/>
  </p:normalViewPr>
  <p:slideViewPr>
    <p:cSldViewPr snapToGrid="0" snapToObjects="1">
      <p:cViewPr varScale="1">
        <p:scale>
          <a:sx n="122" d="100"/>
          <a:sy n="122" d="100"/>
        </p:scale>
        <p:origin x="2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EB324-307A-BF4C-885D-2994AC0A8EFE}" type="datetimeFigureOut">
              <a:rPr lang="en-US" smtClean="0"/>
              <a:t>6/7/22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C8955-89BF-294E-969D-359D32DBC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of the Data:</a:t>
            </a:r>
          </a:p>
          <a:p>
            <a:r>
              <a:rPr lang="en-US" dirty="0"/>
              <a:t>+ Age: Between 25-35, majority are 28-29, and 34-35</a:t>
            </a:r>
          </a:p>
          <a:p>
            <a:r>
              <a:rPr lang="en-US" dirty="0"/>
              <a:t>+ Employment Type: Majority are employed</a:t>
            </a:r>
          </a:p>
          <a:p>
            <a:r>
              <a:rPr lang="en-US" dirty="0"/>
              <a:t>+ Graduate: Majority are graduated</a:t>
            </a:r>
          </a:p>
          <a:p>
            <a:r>
              <a:rPr lang="en-US" dirty="0"/>
              <a:t>+ Annual Income: Majority are wealthy</a:t>
            </a:r>
          </a:p>
          <a:p>
            <a:r>
              <a:rPr lang="en-US" dirty="0"/>
              <a:t>+ Family Members: Majority with less than 4 children</a:t>
            </a:r>
          </a:p>
          <a:p>
            <a:r>
              <a:rPr lang="en-US" dirty="0"/>
              <a:t>+ Chronic Disease: Majority are healthy</a:t>
            </a:r>
          </a:p>
          <a:p>
            <a:r>
              <a:rPr lang="en-US" dirty="0"/>
              <a:t>+ Frequent Flyer: Majority are not frequent flyer</a:t>
            </a:r>
          </a:p>
          <a:p>
            <a:r>
              <a:rPr lang="en-US" dirty="0"/>
              <a:t>+ Ever Travelled Abroad: Majority have never travelled abroad</a:t>
            </a:r>
          </a:p>
          <a:p>
            <a:r>
              <a:rPr lang="en-US" dirty="0"/>
              <a:t>+ Travel Insurance: Majority do not buy travel 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C8955-89BF-294E-969D-359D32DBC2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3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Correlations Between:</a:t>
            </a:r>
          </a:p>
          <a:p>
            <a:r>
              <a:rPr lang="en-US" dirty="0"/>
              <a:t>+ Annual Income – Ever Travelled Abroad</a:t>
            </a:r>
          </a:p>
          <a:p>
            <a:r>
              <a:rPr lang="en-US" dirty="0"/>
              <a:t>+ Annual Income – Frequent Flyer</a:t>
            </a:r>
          </a:p>
          <a:p>
            <a:r>
              <a:rPr lang="en-US" dirty="0"/>
              <a:t>+ Annual Income – Employment Type</a:t>
            </a:r>
          </a:p>
          <a:p>
            <a:endParaRPr lang="en-US" dirty="0"/>
          </a:p>
          <a:p>
            <a:r>
              <a:rPr lang="en-US" dirty="0"/>
              <a:t>+ ANNUAL INCOME – TRAVEL INSURANCE</a:t>
            </a:r>
          </a:p>
          <a:p>
            <a:endParaRPr lang="en-US" dirty="0"/>
          </a:p>
          <a:p>
            <a:r>
              <a:rPr lang="en-US" dirty="0"/>
              <a:t>Strong Correlation with Travel Insurance:</a:t>
            </a:r>
          </a:p>
          <a:p>
            <a:r>
              <a:rPr lang="en-US" dirty="0"/>
              <a:t>+ Ever Travelled Abroad – Travel Insurance</a:t>
            </a:r>
          </a:p>
          <a:p>
            <a:r>
              <a:rPr lang="en-US" dirty="0"/>
              <a:t>+ Annual Income – Travel Insurance</a:t>
            </a:r>
          </a:p>
          <a:p>
            <a:r>
              <a:rPr lang="en-US" dirty="0"/>
              <a:t>+ Frequent Flyer – Travel 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C8955-89BF-294E-969D-359D32DBC2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9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 Employment Type </a:t>
            </a:r>
            <a:r>
              <a:rPr lang="en-US" dirty="0">
                <a:sym typeface="Wingdings" pitchFamily="2" charset="2"/>
              </a:rPr>
              <a:t> Employed: </a:t>
            </a:r>
            <a:r>
              <a:rPr lang="en-US" dirty="0"/>
              <a:t>40% buys insurance / Unemployed: 25% buys insurance</a:t>
            </a:r>
          </a:p>
          <a:p>
            <a:r>
              <a:rPr lang="en-US" dirty="0"/>
              <a:t>+ Graduate </a:t>
            </a:r>
            <a:r>
              <a:rPr lang="en-US" dirty="0">
                <a:sym typeface="Wingdings" pitchFamily="2" charset="2"/>
              </a:rPr>
              <a:t> Graduate: 35% buys insurance / Not Graduate: 33% buys insurance</a:t>
            </a:r>
          </a:p>
          <a:p>
            <a:r>
              <a:rPr lang="en-US" dirty="0">
                <a:sym typeface="Wingdings" pitchFamily="2" charset="2"/>
              </a:rPr>
              <a:t>+ Chronic Disease  Yes: 36% buys insurance / No: 35% buys insurance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+ Frequent Flyer: Yes  55% buys insurance / No: 30% buys insurance</a:t>
            </a:r>
          </a:p>
          <a:p>
            <a:r>
              <a:rPr lang="en-US" dirty="0">
                <a:sym typeface="Wingdings" pitchFamily="2" charset="2"/>
              </a:rPr>
              <a:t>+ Ever Travelled Abroad: Yes  75% buys insurance / No: 25% buys 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C8955-89BF-294E-969D-359D32DBC2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45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Regarding the Correlation Heatmap </a:t>
            </a:r>
            <a:r>
              <a:rPr lang="en-US" dirty="0">
                <a:sym typeface="Wingdings" pitchFamily="2" charset="2"/>
              </a:rPr>
              <a:t> Higher Annual Income – More Likely to Buy Insurance  Correlation Coefficient: 0.4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Very Low Corr. Coef.: 0.048  According to the median on the boxplots  Older people may be more likely to buy insurance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C8955-89BF-294E-969D-359D32DBC2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58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C8955-89BF-294E-969D-359D32DBC2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07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66A0-1AB2-5D82-BC40-12F432232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06B8C-77F5-D346-AD2C-ECBCCB60F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D4D40-E4CB-2C0C-0075-2D1512D7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1993B-A6A8-4266-639A-1FBE0174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B6E9D-1C4D-F99A-ECC6-F7F203EF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8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2417-313B-6D61-1E5E-5059F6C0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A34C6-D183-C1F2-A073-25D5C3F14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E1BF-FC43-917A-FA77-DC4548D0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EDE94-EC9B-7F25-CA4C-73680B3E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4AC9F-C258-BD7F-0731-9E5E3471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2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F21A-3953-62D7-5D82-BFBD5A11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B88FA-5497-9EEE-BB4F-A1D3DF0E0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B25B7-3D33-B58E-2AB8-E1299558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8A45B-0554-7AB0-350D-EBE75B56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4B874-F96C-5EF0-85A0-A38244BA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8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F2BA-E03C-F3C2-6A4E-A66A1B8D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77109-27A6-59C6-6795-5A1A1C0FA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E4501-64A3-BA3C-D702-2825D3049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F9E8B-404C-2610-8198-0EA4CDAE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C6AD3-A36E-BD25-237C-A722427EB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144EE-F771-C2BF-5276-4DE68611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7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EDBE-F75D-0722-949A-02863664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49120-6CE9-5AE9-ED41-B111F7EE2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F951D-B8B2-B838-5214-CB129DB7F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19D3B-ECA2-9182-62DB-79BF2FD75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E4FA7-57DD-DA7F-8BB6-EB7D0D6D5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B6B4A-BCE7-EC3E-A679-7B1522C6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7D944-8949-CAE1-0276-1D0E7BDA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8E0B2-04E2-41A1-90F7-5AEDC12C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7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3601-0997-6C2B-D6C9-44FF07ED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06C56-1391-FCD2-AFBE-1625C6C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534B0-4163-6626-16C6-A631B569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FD826-6838-8B15-85BD-428B49B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8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63E80-83DD-6EED-E9CA-085285F9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15D6A-D15C-1BFB-07D9-1920E675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9515C-49CF-33F2-57F9-7B13AD91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5A3C-08BA-DB79-A501-E52D4222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DC3A9-3FE2-19E7-EB20-CCF92C0C2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50DF9-17F8-775F-0B90-4E3EBC6D1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7EFF1-C325-499A-D0D1-5F377349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5D924-7A07-7974-3839-370204BF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F5D67-F5B9-DF05-712A-427C39DB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3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AC6A-9BDB-F443-7038-55F388D5F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61737-EACC-19FB-8116-EFBDB7AEE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74BDE-6D0C-033E-DEFB-308B8849C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AB54E-6CD6-53E6-0A13-ACE2E825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A8A4C-4C4C-57F4-B672-B45A4F4FD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0FCAA-CD5F-15C2-BA95-6EB496D1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330C-4D20-9375-2CD3-9DB7540A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32920-3F93-104F-8961-50062668C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34803-CF9C-A2CF-21E2-C84815F4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FA56E-B73A-8F83-C583-3BBE0F38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A9FFD-7732-6FBC-9A83-4CD26355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9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64CE6-BF83-6F88-D41B-A1AD23369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7C1E5-1364-85BB-A3D5-9629084AF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14538-1227-2D02-7D9C-A0AE3B3F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18DF2-22A0-80B6-8587-C45176AB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900A1-D219-C1B5-A407-8FEDD986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4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6393B-B0D8-75CD-513A-7CE5AB44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1A3F2-6FE9-AF6B-86EF-E2ACB0AAB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8042B-084D-AD05-1C36-B0068B2D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2E3A4-B3F4-1E46-AF1C-ECB8E4743479}" type="datetimeFigureOut">
              <a:rPr lang="en-US" smtClean="0"/>
              <a:t>6/7/22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F31B5-A477-A09C-363A-70308D930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BE4F-C9AB-38FD-67B9-DF1605D2C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C2FE4-E190-7447-91E2-4C12312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7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AA5FB-AF6B-A878-4338-51F2BABD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Marketing Campaign Optimization – Travel Assured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n in business wear, standing with carry-on bag, holding passport">
            <a:extLst>
              <a:ext uri="{FF2B5EF4-FFF2-40B4-BE49-F238E27FC236}">
                <a16:creationId xmlns:a16="http://schemas.microsoft.com/office/drawing/2014/main" id="{9A8B2D98-8601-24D4-6B25-BEC2E63D86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4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274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DFC27A41-B696-3F04-36EB-635AE820D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7736" y="48187"/>
            <a:ext cx="11316527" cy="676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8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BCD3D-BD46-A874-848B-4F28AD77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691" y="665653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Spearman Correlation Heatmap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0CC38F8-A1A8-7798-5B36-D054149E3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785" y="0"/>
            <a:ext cx="7812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289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F4DAF-87E1-4D8C-2B00-2D14C876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Travellers</a:t>
            </a:r>
            <a:r>
              <a:rPr lang="en-US" sz="6600" dirty="0"/>
              <a:t> Buy Insurance</a:t>
            </a:r>
          </a:p>
        </p:txBody>
      </p:sp>
      <p:sp>
        <p:nvSpPr>
          <p:cNvPr id="205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DC42E2-2836-7179-EB90-48B862E5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881" y="2053839"/>
            <a:ext cx="4755834" cy="45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DF91586-9D26-ABD3-A00D-C72FBB97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2686" y="2055329"/>
            <a:ext cx="4755835" cy="457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33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2" name="Rectangle 308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3B857-5806-386A-FE5B-E552B873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Annual Income &amp; Age</a:t>
            </a:r>
            <a:endParaRPr lang="en-US" sz="6600" dirty="0"/>
          </a:p>
        </p:txBody>
      </p:sp>
      <p:sp>
        <p:nvSpPr>
          <p:cNvPr id="309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875A387-2527-BC4F-AD2C-29F52396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959891"/>
            <a:ext cx="6096000" cy="353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D4869F0-5B6C-46EA-2A74-70D2D09B0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2952" y="2959890"/>
            <a:ext cx="6096000" cy="353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56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CD3CC-8BD2-CD1E-00C0-6268D4FE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Annual Income &amp; Employment</a:t>
            </a:r>
          </a:p>
        </p:txBody>
      </p:sp>
      <p:sp>
        <p:nvSpPr>
          <p:cNvPr id="616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F2EA2A2-6D71-5362-45F5-865247B4E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3" y="2605605"/>
            <a:ext cx="6060290" cy="36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CD7A070-020E-69A7-03B7-7E383B9E3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0749" y="2605605"/>
            <a:ext cx="6060290" cy="36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24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C2D91-34A6-73DC-0F2A-79F35D48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Summary of Findings</a:t>
            </a:r>
            <a:endParaRPr lang="en-US" sz="5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3CDF-EC5C-EAE4-5609-5B2C462E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Majority of the people in our database are relatively young, graduated, employed, healthy, not travelling much, and not purchasing insurance</a:t>
            </a:r>
          </a:p>
          <a:p>
            <a:endParaRPr lang="en-US" sz="2200" dirty="0"/>
          </a:p>
          <a:p>
            <a:r>
              <a:rPr lang="en-US" sz="2200" dirty="0"/>
              <a:t>Annual income – which comes from employment – is  the strongest drive when considering to travel for the first time</a:t>
            </a:r>
          </a:p>
          <a:p>
            <a:endParaRPr lang="en-US" sz="2200" dirty="0"/>
          </a:p>
          <a:p>
            <a:r>
              <a:rPr lang="en-US" sz="2200" dirty="0"/>
              <a:t>Frequent flyers and those people who have travelled before will most likely purchase an insurance</a:t>
            </a:r>
          </a:p>
          <a:p>
            <a:endParaRPr lang="en-US" sz="2200" dirty="0"/>
          </a:p>
          <a:p>
            <a:r>
              <a:rPr lang="en-US" sz="2200" dirty="0"/>
              <a:t>30+ years old, employed travelers who have a higher income will most likely purchase an insurance</a:t>
            </a:r>
          </a:p>
        </p:txBody>
      </p:sp>
    </p:spTree>
    <p:extLst>
      <p:ext uri="{BB962C8B-B14F-4D97-AF65-F5344CB8AC3E}">
        <p14:creationId xmlns:p14="http://schemas.microsoft.com/office/powerpoint/2010/main" val="209496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9" name="Rectangle 718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0E052-76EA-51FF-8CE7-209FECBA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/>
              <a:t>+Bonus: Random Forest is the Winner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9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BD1BBCE6-E6C9-102D-7180-77B8AEE6A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881" y="2084546"/>
            <a:ext cx="10909640" cy="443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62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381</Words>
  <Application>Microsoft Macintosh PowerPoint</Application>
  <PresentationFormat>Widescreen</PresentationFormat>
  <Paragraphs>49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Marketing Campaign Optimization – Travel Assured</vt:lpstr>
      <vt:lpstr>PowerPoint Presentation</vt:lpstr>
      <vt:lpstr>Spearman Correlation Heatmap</vt:lpstr>
      <vt:lpstr>Travellers Buy Insurance</vt:lpstr>
      <vt:lpstr>Annual Income &amp; Age</vt:lpstr>
      <vt:lpstr>Annual Income &amp; Employment</vt:lpstr>
      <vt:lpstr>Summary of Findings</vt:lpstr>
      <vt:lpstr>+Bonus: Random Forest is the Winner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Project - Travel Insurance</dc:title>
  <dc:creator>Zalan Taller</dc:creator>
  <cp:lastModifiedBy>Zalan Taller</cp:lastModifiedBy>
  <cp:revision>6</cp:revision>
  <dcterms:created xsi:type="dcterms:W3CDTF">2022-06-07T14:36:14Z</dcterms:created>
  <dcterms:modified xsi:type="dcterms:W3CDTF">2022-06-07T21:47:52Z</dcterms:modified>
</cp:coreProperties>
</file>